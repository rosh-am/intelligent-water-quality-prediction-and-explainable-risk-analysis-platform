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Ledger" panose="020B0604020202020204" charset="0"/>
      <p:regular r:id="rId13"/>
    </p:embeddedFont>
    <p:embeddedFont>
      <p:font typeface="Mozilla Text" panose="020B0604020202020204" charset="0"/>
      <p:regular r:id="rId14"/>
    </p:embeddedFont>
    <p:embeddedFont>
      <p:font typeface="Mozilla Text Bold" panose="020B0604020202020204" charset="0"/>
      <p:regular r:id="rId15"/>
    </p:embeddedFont>
    <p:embeddedFont>
      <p:font typeface="Mozilla Text Medium" panose="020B0604020202020204" charset="0"/>
      <p:regular r:id="rId16"/>
    </p:embeddedFont>
    <p:embeddedFont>
      <p:font typeface="Mozilla Text SemiBold" panose="020B0604020202020204" charset="0"/>
      <p:regular r:id="rId17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 horzBarState="maximized">
    <p:restoredLeft sz="15611"/>
    <p:restoredTop sz="94610"/>
  </p:normalViewPr>
  <p:slideViewPr>
    <p:cSldViewPr snapToGrid="0" snapToObjects="1">
      <p:cViewPr varScale="1">
        <p:scale>
          <a:sx n="64" d="100"/>
          <a:sy n="64" d="100"/>
        </p:scale>
        <p:origin x="724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2150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8917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 title, team members, and academic affiliation at VIT-AP University.
State the core objective: building an explainable AI system that bridges water quality index prediction and concrete decision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monitoring multiple individual chemical parameters overwhelms decision makers.
WQI solves the aggregation problem, but black-box ML models leave decision-makers without causal guidance.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Detail the four distinct challenges that prevent raw telemetry from becoming policy action.
Emphasize the research question which drives the technical objectives of the project.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explicit about the project's intellectual boundaries: we do not invent a new ML algorithm or index formula.
The academic value lies in integrating data cleaning, WQI calculation, comparative modeling, SHAP explainability, and rule-based recommendations into a single pipeline.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six sequential phases of the research.
Notice how each objective feeds cleanly into the next, culminating in practical decision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long-term dataset scale and distinguish WQI construction parameters from ML/DL features. DO predicts WQI but is not used to construct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6-stage preprocessing sequence.
Explain why parameters were divided: BOD/Ammonia/Nitrite benefited from RF, Nitrate/pH from temporal continuity, and DO was deliberately left unimputed.
State the exact count: 10,178 recovered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exact experimental validation table.
Highlight that Predictive RF wins for BOD, Ammonia-N, and Nitrite-N with lower MAE and RMSE.
Note that Temporal interpolation wins for Nitrate-N (MAE 0.3651 vs 0.5863) and pH (MAE 0.2120 vs 0.2562).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standard CCME-WQI mathematical formulation and its three factors: Scope (F1), Frequency (F2), and Amplitude (F3).
Emphasize that WQI is a calculated index of regulatory compliance, which our ML models learn to approximate.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the complete 12-step engineering architecture.
Reiterate the central spine: Prediction (CatBoost) -&gt; Explanation (SHAP) -&gt; Decision Support (Streamlit Dashboard &amp; Rules).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C1D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558800"/>
            <a:ext cx="5486263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4000" kern="100" spc="-40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An Explainable AI-Based Decision Support System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558786" y="2260600"/>
            <a:ext cx="5486263" cy="5851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For Dynamic Water Quality Index Prediction and Recommendation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58786" y="2979142"/>
            <a:ext cx="5943451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Final-Year BTech Computer Science &amp; Engineering Project Evaluation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58786" y="4907359"/>
            <a:ext cx="259073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58786" y="5189934"/>
            <a:ext cx="2590735" cy="920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Chintakayala Karthikeya</a:t>
            </a:r>
            <a:endParaRPr lang="en-US" sz="12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Ameer Roshan Shaik</a:t>
            </a:r>
            <a:endParaRPr lang="en-US" sz="12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Shaik Abdul Samad</a:t>
            </a:r>
            <a:endParaRPr lang="en-US" sz="12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Desam Pranay Kumar Reddy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454314" y="4907359"/>
            <a:ext cx="2590735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Affiliation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54314" y="5189934"/>
            <a:ext cx="2590735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Department of Computer Science and Engineering</a:t>
            </a:r>
            <a:endParaRPr lang="en-US" sz="12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VIT-AP University, India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558786" y="6212284"/>
            <a:ext cx="5943451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5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Environmental Informatics &amp; Applied Machine Learning Laboratory</a:t>
            </a:r>
            <a:endParaRPr lang="en-US" sz="11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2237" y="0"/>
            <a:ext cx="568945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PROBLEM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57250"/>
            <a:ext cx="8476244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kern="100" spc="-18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Water quality is multidimensional, but decisions need one clear 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585" y="2413794"/>
            <a:ext cx="2400240" cy="635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2664718"/>
            <a:ext cx="824884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8A4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01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1009029" y="2678509"/>
            <a:ext cx="1763272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MEASUREMENT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009029" y="2990850"/>
            <a:ext cx="2000795" cy="902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Multivariate physical &amp; chemical data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1009029" y="4026396"/>
            <a:ext cx="2000795" cy="920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BOD, DO, nitrogen variants, and pH must be evaluated jointly rather than in isolation.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467013" y="2413794"/>
            <a:ext cx="2400240" cy="635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0" name="Text 8"/>
          <p:cNvSpPr/>
          <p:nvPr/>
        </p:nvSpPr>
        <p:spPr>
          <a:xfrm>
            <a:off x="3467013" y="2664718"/>
            <a:ext cx="85236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8A4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02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3893941" y="2678509"/>
            <a:ext cx="144786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SYNTHESIS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893941" y="2990850"/>
            <a:ext cx="1973312" cy="60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Composite index representation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3893941" y="3725664"/>
            <a:ext cx="1973312" cy="1150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Water Quality Index (WQI) condenses multiple chemical metrics into a single standard score.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24442" y="2413794"/>
            <a:ext cx="2400240" cy="635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5" name="Text 13"/>
          <p:cNvSpPr/>
          <p:nvPr/>
        </p:nvSpPr>
        <p:spPr>
          <a:xfrm>
            <a:off x="6324442" y="2664718"/>
            <a:ext cx="85326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8A4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03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752262" y="2678509"/>
            <a:ext cx="174243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ML LIMITATION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752262" y="2990850"/>
            <a:ext cx="1972419" cy="902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Prediction without explanation</a:t>
            </a:r>
            <a:endParaRPr lang="en-US" sz="1850" dirty="0"/>
          </a:p>
        </p:txBody>
      </p:sp>
      <p:sp>
        <p:nvSpPr>
          <p:cNvPr id="18" name="Text 16"/>
          <p:cNvSpPr/>
          <p:nvPr/>
        </p:nvSpPr>
        <p:spPr>
          <a:xfrm>
            <a:off x="6752262" y="4026396"/>
            <a:ext cx="1972419" cy="13811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ML estimates WQI accurately, but raw scores fail to explain driver causes or downstream interventions.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9181870" y="2413794"/>
            <a:ext cx="2400240" cy="635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20" name="Text 18"/>
          <p:cNvSpPr/>
          <p:nvPr/>
        </p:nvSpPr>
        <p:spPr>
          <a:xfrm>
            <a:off x="9181870" y="2664718"/>
            <a:ext cx="85415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1450" dirty="0">
                <a:solidFill>
                  <a:srgbClr val="FF8A4C"/>
                </a:solidFill>
                <a:latin typeface="Mozilla Text SemiBold" pitchFamily="34" charset="0"/>
                <a:ea typeface="Mozilla Text SemiBold" pitchFamily="34" charset="-122"/>
                <a:cs typeface="Mozilla Text SemiBold" pitchFamily="34" charset="-120"/>
              </a:rPr>
              <a:t>04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9610584" y="2678509"/>
            <a:ext cx="1611570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INTEGRATION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9610584" y="2990850"/>
            <a:ext cx="1971526" cy="60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Defensible decision support</a:t>
            </a:r>
            <a:endParaRPr lang="en-US" sz="1850" dirty="0"/>
          </a:p>
        </p:txBody>
      </p:sp>
      <p:sp>
        <p:nvSpPr>
          <p:cNvPr id="23" name="Text 21"/>
          <p:cNvSpPr/>
          <p:nvPr/>
        </p:nvSpPr>
        <p:spPr>
          <a:xfrm>
            <a:off x="9610584" y="3725664"/>
            <a:ext cx="1971526" cy="11509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Our architecture unites predictive models, SHAP explanations, and guideline-driven action rules.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609585" y="6059984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5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Core architecture premise: prediction alone is insufficient for environmental regulation without interpretability.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1128295" y="6444952"/>
            <a:ext cx="1063400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60686"/>
            <a:ext cx="6095848" cy="1508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kern="100" spc="-18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The challenge is turning heterogeneous monitoring data into defensible action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609585" y="3053358"/>
            <a:ext cx="6095848" cy="1477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Large heterogeneous monitoring datasets</a:t>
            </a:r>
            <a:endParaRPr lang="en-US" sz="1450" dirty="0"/>
          </a:p>
          <a:p>
            <a:pPr marL="294640" indent="-29464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Missing water-quality observations</a:t>
            </a:r>
            <a:endParaRPr lang="en-US" sz="1450" dirty="0"/>
          </a:p>
          <a:p>
            <a:pPr marL="294640" indent="-29464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Limited interpretability of ML predictions</a:t>
            </a:r>
            <a:endParaRPr lang="en-US" sz="1450" dirty="0"/>
          </a:p>
          <a:p>
            <a:pPr marL="294640" indent="-29464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Prediction systems that do not provide structured decision support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609585" y="4696321"/>
            <a:ext cx="6095848" cy="8009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How can water-quality measurements become an accurate, explainable, recommendation-oriented WQI decision-support system?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7315017" y="0"/>
            <a:ext cx="4876678" cy="6858000"/>
          </a:xfrm>
          <a:prstGeom prst="rect">
            <a:avLst/>
          </a:prstGeom>
          <a:noFill/>
          <a:ln w="12700">
            <a:solidFill>
              <a:srgbClr val="F1F5F2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017" y="0"/>
            <a:ext cx="4876678" cy="6858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09585" y="6444952"/>
            <a:ext cx="1063995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RESEARCH CONTEXT &amp; CONTRIBUTION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57250"/>
            <a:ext cx="8476244" cy="502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kern="100" spc="-18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The gap is integration, not invention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639193"/>
          <a:ext cx="10972526" cy="914400"/>
        </p:xfrm>
        <a:graphic>
          <a:graphicData uri="http://schemas.openxmlformats.org/drawingml/2006/table">
            <a:tbl>
              <a:tblPr/>
              <a:tblGrid>
                <a:gridCol w="32916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808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76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Component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Role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Traditional WQI approaches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Construct composite indices.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ML-based prediction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Estimates WQI from measurements.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Deep learning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Broadens the model comparison.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Explainable AI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Attributes predictions to features.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Recommendation systems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Translate analysis into possible actions.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6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Gap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These elements are not necessarily integrated into one reproducible workflow.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Shape 2"/>
          <p:cNvSpPr/>
          <p:nvPr/>
        </p:nvSpPr>
        <p:spPr>
          <a:xfrm>
            <a:off x="609585" y="5254129"/>
            <a:ext cx="10972526" cy="994370"/>
          </a:xfrm>
          <a:prstGeom prst="roundRect">
            <a:avLst>
              <a:gd name="adj" fmla="val 1149"/>
            </a:avLst>
          </a:prstGeom>
          <a:solidFill>
            <a:srgbClr val="802C0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30" y="5520035"/>
            <a:ext cx="230182" cy="1841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08057" y="5484316"/>
            <a:ext cx="1018990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Contribution:</a:t>
            </a:r>
            <a:r>
              <a:rPr lang="en-US" sz="1450" dirty="0">
                <a:solidFill>
                  <a:srgbClr val="FFFFFF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integrated workflow and experimental evaluation, not a new WQI, CatBoost, XGBoost, or SHAP algorithm.</a:t>
            </a:r>
            <a:endParaRPr lang="en-US" sz="1450" dirty="0"/>
          </a:p>
        </p:txBody>
      </p:sp>
      <p:sp>
        <p:nvSpPr>
          <p:cNvPr id="8" name="Text 4"/>
          <p:cNvSpPr/>
          <p:nvPr/>
        </p:nvSpPr>
        <p:spPr>
          <a:xfrm>
            <a:off x="11127104" y="6444952"/>
            <a:ext cx="1064591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RESEARCH METHODOLOGY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57250"/>
            <a:ext cx="1097252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kern="100" spc="-18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Six objectives connect data preparation to decision support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788940"/>
            <a:ext cx="90653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3115072"/>
            <a:ext cx="3505112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253184"/>
            <a:ext cx="350511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Dataset preparation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419489" y="2788940"/>
            <a:ext cx="94444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419489" y="3115072"/>
            <a:ext cx="3352716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9" name="Text 7"/>
          <p:cNvSpPr/>
          <p:nvPr/>
        </p:nvSpPr>
        <p:spPr>
          <a:xfrm>
            <a:off x="4419489" y="3253184"/>
            <a:ext cx="3352716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WQI construction and prediction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8076998" y="2788940"/>
            <a:ext cx="94563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8076998" y="3115072"/>
            <a:ext cx="3505112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2" name="Text 10"/>
          <p:cNvSpPr/>
          <p:nvPr/>
        </p:nvSpPr>
        <p:spPr>
          <a:xfrm>
            <a:off x="8076998" y="3253184"/>
            <a:ext cx="350511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ML versus DL comparison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609585" y="4208066"/>
            <a:ext cx="94692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09585" y="4534198"/>
            <a:ext cx="3505112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5" name="Text 13"/>
          <p:cNvSpPr/>
          <p:nvPr/>
        </p:nvSpPr>
        <p:spPr>
          <a:xfrm>
            <a:off x="609585" y="4672310"/>
            <a:ext cx="3505112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Model evaluation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419489" y="4208066"/>
            <a:ext cx="94791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4419489" y="4534198"/>
            <a:ext cx="3352716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8" name="Text 16"/>
          <p:cNvSpPr/>
          <p:nvPr/>
        </p:nvSpPr>
        <p:spPr>
          <a:xfrm>
            <a:off x="4419489" y="4672310"/>
            <a:ext cx="3352716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Explainability using SHAP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076998" y="4208066"/>
            <a:ext cx="94821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8076998" y="4534198"/>
            <a:ext cx="3505112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21" name="Text 19"/>
          <p:cNvSpPr/>
          <p:nvPr/>
        </p:nvSpPr>
        <p:spPr>
          <a:xfrm>
            <a:off x="8076998" y="4672310"/>
            <a:ext cx="3505112" cy="650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Decision support and recommendation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1126708" y="6444952"/>
            <a:ext cx="1064987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EXPERIMENTAL DATASET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57250"/>
            <a:ext cx="1097252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kern="100" spc="-18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One long-term dataset supports the full experiment</a:t>
            </a:r>
            <a:endParaRPr lang="en-US" sz="36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047081"/>
          <a:ext cx="5257669" cy="914400"/>
        </p:xfrm>
        <a:graphic>
          <a:graphicData uri="http://schemas.openxmlformats.org/drawingml/2006/table">
            <a:tbl>
              <a:tblPr/>
              <a:tblGrid>
                <a:gridCol w="25236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4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0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F1F5F2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Dataset detail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F1F5F2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Value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Period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1990–2024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Raw observations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178,680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57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Variables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40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42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Monitoring stations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1,311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138109" marR="138109" marT="73658" marB="7365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4251623"/>
            <a:ext cx="5257668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kern="100" spc="5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Source: Northern Ireland Environment Agency (NIEA)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6324442" y="2047081"/>
            <a:ext cx="525766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WQI parameters</a:t>
            </a:r>
            <a:endParaRPr lang="en-US" sz="2000" dirty="0"/>
          </a:p>
        </p:txBody>
      </p:sp>
      <p:sp>
        <p:nvSpPr>
          <p:cNvPr id="4" name="Text 4"/>
          <p:cNvSpPr/>
          <p:nvPr/>
        </p:nvSpPr>
        <p:spPr>
          <a:xfrm>
            <a:off x="6324442" y="2505472"/>
            <a:ext cx="525766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BOD, Ammonia-N, Nitrite-N, Nitrate-N, pH.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6324442" y="2937570"/>
            <a:ext cx="5257668" cy="325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200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ML/DL features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324442" y="3395960"/>
            <a:ext cx="5257668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BOD, DO, Ammonia-N, Nitrite-N, Nitrate-N, pH.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6324442" y="3770908"/>
            <a:ext cx="5257668" cy="727373"/>
          </a:xfrm>
          <a:prstGeom prst="roundRect">
            <a:avLst>
              <a:gd name="adj" fmla="val 1571"/>
            </a:avLst>
          </a:prstGeom>
          <a:solidFill>
            <a:srgbClr val="802C00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8587" y="4036814"/>
            <a:ext cx="230182" cy="18415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22914" y="4001095"/>
            <a:ext cx="4659196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DO predicts WQI but is not used to construct it.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1126509" y="6444952"/>
            <a:ext cx="1065186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DATA PREPARATION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57250"/>
            <a:ext cx="8476244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kern="100" spc="-18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Missing values were handled by parameter-specific methods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765127"/>
            <a:ext cx="906539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01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609585" y="3091259"/>
            <a:ext cx="1701757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203972"/>
            <a:ext cx="1701757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Raw data</a:t>
            </a:r>
            <a:endParaRPr lang="en-US" sz="1850" dirty="0"/>
          </a:p>
        </p:txBody>
      </p:sp>
      <p:sp>
        <p:nvSpPr>
          <p:cNvPr id="7" name="Text 5"/>
          <p:cNvSpPr/>
          <p:nvPr/>
        </p:nvSpPr>
        <p:spPr>
          <a:xfrm>
            <a:off x="2463738" y="2765127"/>
            <a:ext cx="94444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02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2463738" y="3091259"/>
            <a:ext cx="1701757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9" name="Text 7"/>
          <p:cNvSpPr/>
          <p:nvPr/>
        </p:nvSpPr>
        <p:spPr>
          <a:xfrm>
            <a:off x="2463738" y="3203972"/>
            <a:ext cx="1701757" cy="902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Inspection and missing-value analysis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4317892" y="2765127"/>
            <a:ext cx="94563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03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4317892" y="3091259"/>
            <a:ext cx="1701757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2" name="Text 10"/>
          <p:cNvSpPr/>
          <p:nvPr/>
        </p:nvSpPr>
        <p:spPr>
          <a:xfrm>
            <a:off x="4317892" y="3203972"/>
            <a:ext cx="1701757" cy="60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Quality control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6172046" y="2765127"/>
            <a:ext cx="94692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04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172046" y="3091259"/>
            <a:ext cx="1701757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046" y="3203972"/>
            <a:ext cx="1701757" cy="9021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Parameter-specific imputation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026199" y="2765127"/>
            <a:ext cx="947912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05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8026199" y="3091259"/>
            <a:ext cx="1701757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8" name="Text 16"/>
          <p:cNvSpPr/>
          <p:nvPr/>
        </p:nvSpPr>
        <p:spPr>
          <a:xfrm>
            <a:off x="8026199" y="3203972"/>
            <a:ext cx="1701757" cy="601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Station-year aggregation</a:t>
            </a:r>
            <a:endParaRPr lang="en-US" sz="1850" dirty="0"/>
          </a:p>
        </p:txBody>
      </p:sp>
      <p:sp>
        <p:nvSpPr>
          <p:cNvPr id="19" name="Text 17"/>
          <p:cNvSpPr/>
          <p:nvPr/>
        </p:nvSpPr>
        <p:spPr>
          <a:xfrm>
            <a:off x="9880353" y="2765127"/>
            <a:ext cx="94821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2000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06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9880353" y="3091259"/>
            <a:ext cx="1701757" cy="12601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21" name="Text 19"/>
          <p:cNvSpPr/>
          <p:nvPr/>
        </p:nvSpPr>
        <p:spPr>
          <a:xfrm>
            <a:off x="9880353" y="3203972"/>
            <a:ext cx="1701757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WQI dataset</a:t>
            </a:r>
            <a:endParaRPr lang="en-US" sz="1850" dirty="0"/>
          </a:p>
        </p:txBody>
      </p:sp>
      <p:sp>
        <p:nvSpPr>
          <p:cNvPr id="22" name="Shape 20"/>
          <p:cNvSpPr/>
          <p:nvPr/>
        </p:nvSpPr>
        <p:spPr>
          <a:xfrm>
            <a:off x="609585" y="5008364"/>
            <a:ext cx="3352716" cy="635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23" name="Text 21"/>
          <p:cNvSpPr/>
          <p:nvPr/>
        </p:nvSpPr>
        <p:spPr>
          <a:xfrm>
            <a:off x="609585" y="5167114"/>
            <a:ext cx="3352716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Predictive Random Forest</a:t>
            </a:r>
            <a:endParaRPr lang="en-US" sz="1850" dirty="0"/>
          </a:p>
        </p:txBody>
      </p:sp>
      <p:sp>
        <p:nvSpPr>
          <p:cNvPr id="24" name="Text 22"/>
          <p:cNvSpPr/>
          <p:nvPr/>
        </p:nvSpPr>
        <p:spPr>
          <a:xfrm>
            <a:off x="609585" y="5601196"/>
            <a:ext cx="3352716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BOD, Ammonia-N, Nitrite-N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419489" y="5008364"/>
            <a:ext cx="3352716" cy="635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26" name="Text 24"/>
          <p:cNvSpPr/>
          <p:nvPr/>
        </p:nvSpPr>
        <p:spPr>
          <a:xfrm>
            <a:off x="4419489" y="5167114"/>
            <a:ext cx="3352716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Station-based temporal</a:t>
            </a:r>
            <a:endParaRPr lang="en-US" sz="1850" dirty="0"/>
          </a:p>
        </p:txBody>
      </p:sp>
      <p:sp>
        <p:nvSpPr>
          <p:cNvPr id="27" name="Text 25"/>
          <p:cNvSpPr/>
          <p:nvPr/>
        </p:nvSpPr>
        <p:spPr>
          <a:xfrm>
            <a:off x="4419489" y="5601196"/>
            <a:ext cx="3352716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Nitrate-N, pH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229394" y="5008364"/>
            <a:ext cx="3352716" cy="635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29" name="Text 27"/>
          <p:cNvSpPr/>
          <p:nvPr/>
        </p:nvSpPr>
        <p:spPr>
          <a:xfrm>
            <a:off x="8229394" y="5167114"/>
            <a:ext cx="3352716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DO</a:t>
            </a:r>
            <a:endParaRPr lang="en-US" sz="1850" dirty="0"/>
          </a:p>
        </p:txBody>
      </p:sp>
      <p:sp>
        <p:nvSpPr>
          <p:cNvPr id="30" name="Text 28"/>
          <p:cNvSpPr/>
          <p:nvPr/>
        </p:nvSpPr>
        <p:spPr>
          <a:xfrm>
            <a:off x="8229394" y="5601196"/>
            <a:ext cx="3352716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Not imputed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609585" y="6059984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kern="100" spc="5" dirty="0">
                <a:solidFill>
                  <a:srgbClr val="FF8A4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Outcome:</a:t>
            </a:r>
            <a:r>
              <a:rPr lang="en-US" sz="1100" kern="100" spc="5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10,178 missing measurements were recovered. The project did not blindly fill every missing value.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11137026" y="6444952"/>
            <a:ext cx="1054669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EMPIRICAL VALIDATION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57250"/>
            <a:ext cx="10972526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kern="100" spc="-18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Validation selected the imputation method per parameter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47081"/>
            <a:ext cx="1158211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Compare predictive and temporal validation using the exact project results; temporal validation has no available R² value.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479179"/>
          <a:ext cx="10972526" cy="914400"/>
        </p:xfrm>
        <a:graphic>
          <a:graphicData uri="http://schemas.openxmlformats.org/drawingml/2006/table">
            <a:tbl>
              <a:tblPr/>
              <a:tblGrid>
                <a:gridCol w="17555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633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0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2633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263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36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6586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74352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Parameter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Predictive MAE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Predictive RMSE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Predictive R²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Temporal MAE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Temporal RMSE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9DB0AB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Selected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6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BOD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0.6808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2.3218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0.4438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0.9840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4.4578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Predictive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6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Ammonia-N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0.0653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0.3055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0.3459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0.0913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0.4867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Predictive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6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Nitrite-N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0.0078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0.0206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0.5338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0.0092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0.0248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Predictive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6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Nitrate-N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0.5863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0.8742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0.5064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0.3651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0.6394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Temporal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65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pH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0.2562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0.3508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0.2777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0.2120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0.2960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50" dirty="0">
                          <a:solidFill>
                            <a:srgbClr val="D6E0DC"/>
                          </a:solidFill>
                          <a:latin typeface="Mozilla Text" pitchFamily="34" charset="0"/>
                          <a:ea typeface="Mozilla Text" pitchFamily="34" charset="-122"/>
                          <a:cs typeface="Mozilla Text" pitchFamily="34" charset="-120"/>
                        </a:rPr>
                        <a:t>Temporal</a:t>
                      </a:r>
                      <a:endParaRPr lang="en-US" sz="1450" dirty="0">
                        <a:latin typeface="Mozilla Text" charset="0"/>
                        <a:ea typeface="Mozilla Text" charset="0"/>
                        <a:cs typeface="Mozilla Text" charset="0"/>
                      </a:endParaRPr>
                    </a:p>
                  </a:txBody>
                  <a:tcPr marL="64008" marR="152396" marT="101598" marB="101598" anchor="ctr">
                    <a:lnL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E555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C1C1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11125517" y="6444952"/>
            <a:ext cx="1066178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INDEX FORMULATION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57250"/>
            <a:ext cx="8476244" cy="1005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3600" kern="100" spc="-18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CCME-WQI turns guideline performance into a constructed target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09585" y="2047081"/>
            <a:ext cx="11582110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The Canadian Council of Ministers of the Environment Water Quality Index synthesizes compliance across three mathematical dimensions: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09585" y="2707184"/>
            <a:ext cx="3352716" cy="635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921099"/>
            <a:ext cx="773688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F1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609585" y="3233440"/>
            <a:ext cx="3352716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Scope</a:t>
            </a:r>
            <a:endParaRPr lang="en-US" sz="1850" dirty="0"/>
          </a:p>
        </p:txBody>
      </p:sp>
      <p:sp>
        <p:nvSpPr>
          <p:cNvPr id="8" name="Text 6"/>
          <p:cNvSpPr/>
          <p:nvPr/>
        </p:nvSpPr>
        <p:spPr>
          <a:xfrm>
            <a:off x="609585" y="3667522"/>
            <a:ext cx="3352716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Percentage of parameters that do not meet guidelines at least once during the monitoring period.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419489" y="2707184"/>
            <a:ext cx="3352716" cy="635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0" name="Text 8"/>
          <p:cNvSpPr/>
          <p:nvPr/>
        </p:nvSpPr>
        <p:spPr>
          <a:xfrm>
            <a:off x="4419489" y="2921099"/>
            <a:ext cx="793829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F2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419489" y="3233440"/>
            <a:ext cx="3352716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Frequency</a:t>
            </a:r>
            <a:endParaRPr lang="en-US" sz="1850" dirty="0"/>
          </a:p>
        </p:txBody>
      </p:sp>
      <p:sp>
        <p:nvSpPr>
          <p:cNvPr id="12" name="Text 10"/>
          <p:cNvSpPr/>
          <p:nvPr/>
        </p:nvSpPr>
        <p:spPr>
          <a:xfrm>
            <a:off x="4419489" y="3667522"/>
            <a:ext cx="3352716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Percentage of individual test tests/measurements that violate environmental guidelines.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29394" y="2707184"/>
            <a:ext cx="3352716" cy="6350"/>
          </a:xfrm>
          <a:prstGeom prst="rect">
            <a:avLst/>
          </a:prstGeom>
          <a:solidFill>
            <a:srgbClr val="3E5553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394" y="2921099"/>
            <a:ext cx="79541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F3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229394" y="3233440"/>
            <a:ext cx="3352716" cy="3007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7000"/>
              </a:lnSpc>
              <a:buNone/>
            </a:pPr>
            <a:r>
              <a:rPr lang="en-US" sz="1850" dirty="0">
                <a:solidFill>
                  <a:srgbClr val="F1F5F2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Amplitude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8229394" y="3667522"/>
            <a:ext cx="3352716" cy="6905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Amount by which failed test values exceed guidelines, normalized via normalized sum of excursions.</a:t>
            </a:r>
            <a:endParaRPr lang="en-US" sz="125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5" y="4535884"/>
            <a:ext cx="10972526" cy="39399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09585" y="5461397"/>
            <a:ext cx="2072628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6E0D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95–100</a:t>
            </a: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· Excellent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2834510" y="5461397"/>
            <a:ext cx="2072628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6E0D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80–94</a:t>
            </a: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· Good</a:t>
            </a:r>
            <a:endParaRPr lang="en-US" sz="1250" dirty="0"/>
          </a:p>
        </p:txBody>
      </p:sp>
      <p:sp>
        <p:nvSpPr>
          <p:cNvPr id="20" name="Text 17"/>
          <p:cNvSpPr/>
          <p:nvPr/>
        </p:nvSpPr>
        <p:spPr>
          <a:xfrm>
            <a:off x="5059434" y="5461397"/>
            <a:ext cx="2072727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6E0D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65–79</a:t>
            </a: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· Fair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7284458" y="5461397"/>
            <a:ext cx="2072628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6E0D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45–64</a:t>
            </a: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· Marginal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509383" y="5461397"/>
            <a:ext cx="2072727" cy="230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250" b="1" dirty="0">
                <a:solidFill>
                  <a:srgbClr val="D6E0D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0–44</a:t>
            </a:r>
            <a:r>
              <a:rPr lang="en-US" sz="12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· Poor</a:t>
            </a:r>
            <a:endParaRPr lang="en-US" sz="1250" dirty="0"/>
          </a:p>
        </p:txBody>
      </p:sp>
      <p:sp>
        <p:nvSpPr>
          <p:cNvPr id="23" name="Text 20"/>
          <p:cNvSpPr/>
          <p:nvPr/>
        </p:nvSpPr>
        <p:spPr>
          <a:xfrm>
            <a:off x="609585" y="6059884"/>
            <a:ext cx="11582110" cy="1885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00" b="1" kern="100" spc="5" dirty="0">
                <a:solidFill>
                  <a:srgbClr val="FF8A4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Critical methodological premise:</a:t>
            </a:r>
            <a:r>
              <a:rPr lang="en-US" sz="1100" kern="100" spc="5" dirty="0">
                <a:solidFill>
                  <a:srgbClr val="9DB0AB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 WQI is a constructed target metric derived from regulatory compliance, not an unmediated physical quantity.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11126509" y="6444952"/>
            <a:ext cx="1065186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22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END-TO-END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57250"/>
            <a:ext cx="10972526" cy="782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2800" kern="100" spc="-14" dirty="0">
                <a:solidFill>
                  <a:srgbClr val="F1F5F2"/>
                </a:solidFill>
                <a:latin typeface="Ledger" pitchFamily="34" charset="0"/>
                <a:ea typeface="Ledger" pitchFamily="34" charset="-122"/>
                <a:cs typeface="Ledger" pitchFamily="34" charset="-120"/>
              </a:rPr>
              <a:t>The proposed system moves from measurements to a recommendation-ready dashboard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09585" y="1823641"/>
            <a:ext cx="3352716" cy="3278188"/>
          </a:xfrm>
          <a:prstGeom prst="rect">
            <a:avLst/>
          </a:prstGeom>
          <a:solidFill>
            <a:srgbClr val="132827"/>
          </a:solidFill>
          <a:ln/>
        </p:spPr>
      </p:sp>
      <p:sp>
        <p:nvSpPr>
          <p:cNvPr id="5" name="Shape 3"/>
          <p:cNvSpPr/>
          <p:nvPr/>
        </p:nvSpPr>
        <p:spPr>
          <a:xfrm>
            <a:off x="812780" y="2026841"/>
            <a:ext cx="1130966" cy="294481"/>
          </a:xfrm>
          <a:prstGeom prst="roundRect">
            <a:avLst>
              <a:gd name="adj" fmla="val 3881"/>
            </a:avLst>
          </a:prstGeom>
          <a:solidFill>
            <a:srgbClr val="4D1A00"/>
          </a:solidFill>
          <a:ln/>
        </p:spPr>
      </p:sp>
      <p:sp>
        <p:nvSpPr>
          <p:cNvPr id="6" name="Text 4"/>
          <p:cNvSpPr/>
          <p:nvPr/>
        </p:nvSpPr>
        <p:spPr>
          <a:xfrm>
            <a:off x="923207" y="2082006"/>
            <a:ext cx="1519696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PREDICTION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12780" y="2429272"/>
            <a:ext cx="2946326" cy="24693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94640" indent="-294640" algn="l">
              <a:lnSpc>
                <a:spcPct val="121000"/>
              </a:lnSpc>
              <a:buSzPct val="100000"/>
              <a:buFont typeface="+mj-lt"/>
              <a:buAutoNum type="arabicPeriod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NIEA data</a:t>
            </a:r>
            <a:endParaRPr lang="en-US" sz="1450" dirty="0"/>
          </a:p>
          <a:p>
            <a:pPr marL="294640" indent="-294640" algn="l">
              <a:lnSpc>
                <a:spcPct val="121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Data preprocessing</a:t>
            </a:r>
            <a:endParaRPr lang="en-US" sz="1450" dirty="0"/>
          </a:p>
          <a:p>
            <a:pPr marL="294640" indent="-294640" algn="l">
              <a:lnSpc>
                <a:spcPct val="121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Missing-value handling</a:t>
            </a:r>
            <a:endParaRPr lang="en-US" sz="1450" dirty="0"/>
          </a:p>
          <a:p>
            <a:pPr marL="294640" indent="-294640" algn="l">
              <a:lnSpc>
                <a:spcPct val="121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Station-year aggregation</a:t>
            </a:r>
            <a:endParaRPr lang="en-US" sz="1450" dirty="0"/>
          </a:p>
          <a:p>
            <a:pPr marL="294640" indent="-294640" algn="l">
              <a:lnSpc>
                <a:spcPct val="121000"/>
              </a:lnSpc>
              <a:buSzPct val="100000"/>
              <a:buFont typeface="+mj-lt"/>
              <a:buAutoNum type="arabicPeriod" startAt="5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CCME-WQI construction</a:t>
            </a:r>
            <a:endParaRPr lang="en-US" sz="1450" dirty="0"/>
          </a:p>
          <a:p>
            <a:pPr marL="294640" indent="-294640" algn="l">
              <a:lnSpc>
                <a:spcPct val="121000"/>
              </a:lnSpc>
              <a:buSzPct val="100000"/>
              <a:buFont typeface="+mj-lt"/>
              <a:buAutoNum type="arabicPeriod" startAt="6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ML + DL models</a:t>
            </a:r>
            <a:endParaRPr lang="en-US" sz="1450" dirty="0"/>
          </a:p>
          <a:p>
            <a:pPr marL="294640" indent="-294640" algn="l">
              <a:lnSpc>
                <a:spcPct val="121000"/>
              </a:lnSpc>
              <a:buSzPct val="100000"/>
              <a:buFont typeface="+mj-lt"/>
              <a:buAutoNum type="arabicPeriod" startAt="7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Model evaluation</a:t>
            </a:r>
            <a:endParaRPr lang="en-US" sz="1450" dirty="0"/>
          </a:p>
          <a:p>
            <a:pPr marL="294640" indent="-294640" algn="l">
              <a:lnSpc>
                <a:spcPct val="121000"/>
              </a:lnSpc>
              <a:buSzPct val="100000"/>
              <a:buFont typeface="+mj-lt"/>
              <a:buAutoNum type="arabicPeriod" startAt="8"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CatBoost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419489" y="1823641"/>
            <a:ext cx="3352716" cy="3278188"/>
          </a:xfrm>
          <a:prstGeom prst="rect">
            <a:avLst/>
          </a:prstGeom>
          <a:solidFill>
            <a:srgbClr val="132827"/>
          </a:solidFill>
          <a:ln/>
        </p:spPr>
      </p:sp>
      <p:sp>
        <p:nvSpPr>
          <p:cNvPr id="9" name="Shape 7"/>
          <p:cNvSpPr/>
          <p:nvPr/>
        </p:nvSpPr>
        <p:spPr>
          <a:xfrm>
            <a:off x="4622684" y="2026841"/>
            <a:ext cx="1249827" cy="294481"/>
          </a:xfrm>
          <a:prstGeom prst="roundRect">
            <a:avLst>
              <a:gd name="adj" fmla="val 3881"/>
            </a:avLst>
          </a:prstGeom>
          <a:solidFill>
            <a:srgbClr val="4D1A00"/>
          </a:solidFill>
          <a:ln/>
        </p:spPr>
      </p:sp>
      <p:sp>
        <p:nvSpPr>
          <p:cNvPr id="10" name="Text 8"/>
          <p:cNvSpPr/>
          <p:nvPr/>
        </p:nvSpPr>
        <p:spPr>
          <a:xfrm>
            <a:off x="4733112" y="2082006"/>
            <a:ext cx="1638557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EXPLANATION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4622684" y="2429272"/>
            <a:ext cx="3149521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SHAP explainability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394" y="1823641"/>
            <a:ext cx="3352716" cy="3278188"/>
          </a:xfrm>
          <a:prstGeom prst="rect">
            <a:avLst/>
          </a:prstGeom>
          <a:solidFill>
            <a:srgbClr val="132827"/>
          </a:solidFill>
          <a:ln/>
        </p:spPr>
      </p:sp>
      <p:sp>
        <p:nvSpPr>
          <p:cNvPr id="13" name="Shape 11"/>
          <p:cNvSpPr/>
          <p:nvPr/>
        </p:nvSpPr>
        <p:spPr>
          <a:xfrm>
            <a:off x="8432589" y="2026841"/>
            <a:ext cx="1678144" cy="294481"/>
          </a:xfrm>
          <a:prstGeom prst="roundRect">
            <a:avLst>
              <a:gd name="adj" fmla="val 3881"/>
            </a:avLst>
          </a:prstGeom>
          <a:solidFill>
            <a:srgbClr val="4D1A00"/>
          </a:solidFill>
          <a:ln/>
        </p:spPr>
      </p:sp>
      <p:sp>
        <p:nvSpPr>
          <p:cNvPr id="14" name="Text 12"/>
          <p:cNvSpPr/>
          <p:nvPr/>
        </p:nvSpPr>
        <p:spPr>
          <a:xfrm>
            <a:off x="8543017" y="2082006"/>
            <a:ext cx="2066873" cy="1841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kern="100" spc="23" dirty="0">
                <a:solidFill>
                  <a:srgbClr val="D6E0DC"/>
                </a:solidFill>
                <a:latin typeface="Mozilla Text Medium" pitchFamily="34" charset="0"/>
                <a:ea typeface="Mozilla Text Medium" pitchFamily="34" charset="-122"/>
                <a:cs typeface="Mozilla Text Medium" pitchFamily="34" charset="-120"/>
              </a:rPr>
              <a:t>DECISION SUPPORT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8432589" y="2429272"/>
            <a:ext cx="2946326" cy="1016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Guideline analysis</a:t>
            </a:r>
            <a:endParaRPr lang="en-US" sz="1450" dirty="0"/>
          </a:p>
          <a:p>
            <a:pPr marL="0" indent="0" algn="l">
              <a:lnSpc>
                <a:spcPct val="121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Recommendation engine</a:t>
            </a:r>
            <a:endParaRPr lang="en-US" sz="145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145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Streamlit dashboard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304792" y="5266928"/>
            <a:ext cx="11582110" cy="2669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21000"/>
              </a:lnSpc>
              <a:buNone/>
            </a:pPr>
            <a:r>
              <a:rPr lang="en-US" sz="1450" b="1" dirty="0">
                <a:solidFill>
                  <a:srgbClr val="D6E0DC"/>
                </a:solidFill>
                <a:latin typeface="Mozilla Text Bold" pitchFamily="34" charset="0"/>
                <a:ea typeface="Mozilla Text Bold" pitchFamily="34" charset="-122"/>
                <a:cs typeface="Mozilla Text Bold" pitchFamily="34" charset="-120"/>
              </a:rPr>
              <a:t>PREDICTION → EXPLANATION → DECISION SUPPORT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11069063" y="6444952"/>
            <a:ext cx="1122632" cy="216495"/>
          </a:xfrm>
          <a:prstGeom prst="rect">
            <a:avLst/>
          </a:prstGeom>
          <a:noFill/>
          <a:ln/>
        </p:spPr>
        <p:txBody>
          <a:bodyPr wrap="none" lIns="76198" tIns="25399" rIns="76198" bIns="25399" rtlCol="0" anchor="ctr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6E0DC"/>
                </a:solidFill>
                <a:latin typeface="Mozilla Text" pitchFamily="34" charset="0"/>
                <a:ea typeface="Mozilla Text" pitchFamily="34" charset="-122"/>
                <a:cs typeface="Mozilla Text" pitchFamily="34" charset="-120"/>
              </a:rPr>
              <a:t>10 / 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1112</Words>
  <Application>Microsoft Office PowerPoint</Application>
  <PresentationFormat>Widescreen</PresentationFormat>
  <Paragraphs>217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Mozilla Text</vt:lpstr>
      <vt:lpstr>Arial</vt:lpstr>
      <vt:lpstr>Mozilla Text Bold</vt:lpstr>
      <vt:lpstr>Ledger</vt:lpstr>
      <vt:lpstr>Mozilla Text SemiBold</vt:lpstr>
      <vt:lpstr>Mozilla Text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Abdul Samad</cp:lastModifiedBy>
  <cp:revision>2</cp:revision>
  <dcterms:created xsi:type="dcterms:W3CDTF">2026-10-02T09:20:48Z</dcterms:created>
  <dcterms:modified xsi:type="dcterms:W3CDTF">2026-10-02T09:28:22Z</dcterms:modified>
</cp:coreProperties>
</file>