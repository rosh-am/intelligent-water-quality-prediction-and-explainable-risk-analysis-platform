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badi" panose="020B0604020104020204" pitchFamily="34" charset="0"/>
      <p:regular r:id="rId13"/>
      <p:bold r:id="rId14"/>
      <p:italic r:id="rId15"/>
      <p:boldItalic r:id="rId16"/>
    </p:embeddedFont>
    <p:embeddedFont>
      <p:font typeface="DM Sans SemiBold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Medium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B5086-C189-4C45-9308-BA2B85C2CCDD}" v="11" dt="2026-08-20T12:23:40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Samad" userId="07548ac3419d2b87" providerId="LiveId" clId="{40400B32-05D4-4330-B5CD-C08E4A999439}"/>
    <pc:docChg chg="undo custSel modSld">
      <pc:chgData name="Abdul Samad" userId="07548ac3419d2b87" providerId="LiveId" clId="{40400B32-05D4-4330-B5CD-C08E4A999439}" dt="2026-08-20T12:25:43.217" v="120" actId="20577"/>
      <pc:docMkLst>
        <pc:docMk/>
      </pc:docMkLst>
      <pc:sldChg chg="addSp delSp modSp mod">
        <pc:chgData name="Abdul Samad" userId="07548ac3419d2b87" providerId="LiveId" clId="{40400B32-05D4-4330-B5CD-C08E4A999439}" dt="2026-08-20T12:25:43.217" v="120" actId="20577"/>
        <pc:sldMkLst>
          <pc:docMk/>
          <pc:sldMk cId="0" sldId="256"/>
        </pc:sldMkLst>
        <pc:spChg chg="mod">
          <ac:chgData name="Abdul Samad" userId="07548ac3419d2b87" providerId="LiveId" clId="{40400B32-05D4-4330-B5CD-C08E4A999439}" dt="2026-08-20T12:18:59.488" v="12" actId="2763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Abdul Samad" userId="07548ac3419d2b87" providerId="LiveId" clId="{40400B32-05D4-4330-B5CD-C08E4A999439}" dt="2026-08-20T12:17:51.590" v="7" actId="478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Abdul Samad" userId="07548ac3419d2b87" providerId="LiveId" clId="{40400B32-05D4-4330-B5CD-C08E4A999439}" dt="2026-08-20T12:25:43.217" v="120" actId="20577"/>
          <ac:spMkLst>
            <pc:docMk/>
            <pc:sldMk cId="0" sldId="256"/>
            <ac:spMk id="8" creationId="{1A4B3476-0704-B199-FCCB-3B8971059EB7}"/>
          </ac:spMkLst>
        </pc:spChg>
        <pc:graphicFrameChg chg="add mod modGraphic">
          <ac:chgData name="Abdul Samad" userId="07548ac3419d2b87" providerId="LiveId" clId="{40400B32-05D4-4330-B5CD-C08E4A999439}" dt="2026-08-20T12:20:54.044" v="87" actId="20577"/>
          <ac:graphicFrameMkLst>
            <pc:docMk/>
            <pc:sldMk cId="0" sldId="256"/>
            <ac:graphicFrameMk id="9" creationId="{B8EE951B-C563-7B52-9DA0-F875A68A444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03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031478"/>
            <a:ext cx="279591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46765" y="1088132"/>
            <a:ext cx="31786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 1 — RESEARCH PROGRESS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394222"/>
            <a:ext cx="5700939" cy="3264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 Explainable AI-Based Framework for Water Quality Index Prediction and Decision Support Using Machine Learning and TabNet</a:t>
            </a:r>
            <a:endParaRPr lang="en-US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B3476-0704-B199-FCCB-3B8971059EB7}"/>
              </a:ext>
            </a:extLst>
          </p:cNvPr>
          <p:cNvSpPr txBox="1"/>
          <p:nvPr/>
        </p:nvSpPr>
        <p:spPr>
          <a:xfrm>
            <a:off x="5141920" y="3026072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Submitted by</a:t>
            </a:r>
            <a:br>
              <a:rPr lang="en-IN" dirty="0"/>
            </a:br>
            <a:r>
              <a:rPr lang="en-IN" b="1" dirty="0"/>
              <a:t>Student Names:</a:t>
            </a:r>
          </a:p>
          <a:p>
            <a:pPr>
              <a:buNone/>
            </a:pPr>
            <a:r>
              <a:rPr lang="en-IN" dirty="0" err="1"/>
              <a:t>Chintakayala</a:t>
            </a:r>
            <a:r>
              <a:rPr lang="en-IN" dirty="0"/>
              <a:t> Karthikeya   Ameer Roshan Shaik</a:t>
            </a:r>
          </a:p>
          <a:p>
            <a:pPr>
              <a:buNone/>
            </a:pPr>
            <a:r>
              <a:rPr lang="en-IN" dirty="0"/>
              <a:t>Shaik Abdul Samad           Desam Pranay Kumar Reddy</a:t>
            </a:r>
            <a:br>
              <a:rPr lang="en-IN" dirty="0"/>
            </a:br>
            <a:r>
              <a:rPr lang="en-IN" b="1" dirty="0"/>
              <a:t>Roll Numbers: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23BCE9594  23BCE9533</a:t>
            </a:r>
          </a:p>
          <a:p>
            <a:pPr>
              <a:buNone/>
            </a:pPr>
            <a:r>
              <a:rPr lang="en-IN" dirty="0"/>
              <a:t>23BCE7692  23BCE8722</a:t>
            </a:r>
          </a:p>
          <a:p>
            <a:pPr>
              <a:buNone/>
            </a:pPr>
            <a:r>
              <a:rPr lang="en-IN" b="1" dirty="0"/>
              <a:t>Department of Computer Science &amp; Engineering</a:t>
            </a:r>
            <a:br>
              <a:rPr lang="en-IN" dirty="0"/>
            </a:br>
            <a:r>
              <a:rPr lang="en-IN" b="1" dirty="0"/>
              <a:t>VIT-AP University</a:t>
            </a:r>
            <a:endParaRPr lang="en-IN" dirty="0"/>
          </a:p>
          <a:p>
            <a:pPr>
              <a:buNone/>
            </a:pPr>
            <a:r>
              <a:rPr lang="en-IN" b="1" dirty="0"/>
              <a:t>Under the Guidance of</a:t>
            </a:r>
            <a:br>
              <a:rPr lang="en-IN" dirty="0"/>
            </a:br>
            <a:r>
              <a:rPr lang="en-IN" b="1" dirty="0"/>
              <a:t>Prof. </a:t>
            </a:r>
            <a:r>
              <a:rPr lang="en-US" b="1" dirty="0" err="1"/>
              <a:t>Balusa</a:t>
            </a:r>
            <a:r>
              <a:rPr lang="en-US" b="1" dirty="0"/>
              <a:t> Bhanu Chander</a:t>
            </a:r>
            <a:endParaRPr lang="en-IN" dirty="0"/>
          </a:p>
          <a:p>
            <a:pPr>
              <a:buNone/>
            </a:pPr>
            <a:r>
              <a:rPr lang="en-IN" b="1" dirty="0"/>
              <a:t>Academic Year: 2026–27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2454258" cy="295274"/>
          </a:xfrm>
          <a:prstGeom prst="roundRect">
            <a:avLst>
              <a:gd name="adj" fmla="val 7905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445482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95728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Why Water Quality Index?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8127" y="2526112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Inter Medium" pitchFamily="34" charset="-120"/>
              </a:rPr>
              <a:t>River water quality is governed by multiple physical and chemical parameters. Assessing each parameter individually across hundreds of stations and decades of data makes overall condition difficult to interpret.</a:t>
            </a:r>
            <a:endParaRPr lang="en-US" sz="1500" dirty="0">
              <a:latin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Inter Medium" pitchFamily="34" charset="-120"/>
              </a:rPr>
              <a:t>A </a:t>
            </a:r>
            <a:r>
              <a:rPr lang="en-US" sz="1500" b="1" dirty="0">
                <a:solidFill>
                  <a:srgbClr val="464646"/>
                </a:solidFill>
                <a:latin typeface="Arial" panose="020B0604020202020204" pitchFamily="34" charset="0"/>
                <a:ea typeface="Inter Bold" pitchFamily="34" charset="-122"/>
                <a:cs typeface="Inter Bold" pitchFamily="34" charset="-120"/>
              </a:rPr>
              <a:t>Water Quality Index (WQI)</a:t>
            </a:r>
            <a:r>
              <a:rPr lang="en-US" sz="1500" dirty="0">
                <a:solidFill>
                  <a:srgbClr val="464646"/>
                </a:solidFill>
                <a:latin typeface="Arial" panose="020B0604020202020204" pitchFamily="34" charset="0"/>
                <a:ea typeface="Inter Medium" pitchFamily="34" charset="-122"/>
                <a:cs typeface="Inter Medium" pitchFamily="34" charset="-120"/>
              </a:rPr>
              <a:t> converts multiple measurements into a single interpretable score — providing a summarised condition and a target for machine-learning prediction.</a:t>
            </a:r>
            <a:endParaRPr lang="en-US" sz="1500" dirty="0">
              <a:latin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243" y="497682"/>
            <a:ext cx="2389870" cy="287139"/>
          </a:xfrm>
          <a:prstGeom prst="roundRect">
            <a:avLst>
              <a:gd name="adj" fmla="val 789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845065" y="554335"/>
            <a:ext cx="202222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RESEARCH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12775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Research Gap and Objectives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151658"/>
            <a:ext cx="5476043" cy="3791545"/>
          </a:xfrm>
          <a:prstGeom prst="roundRect">
            <a:avLst>
              <a:gd name="adj" fmla="val 748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340670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Research Gap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824956"/>
            <a:ext cx="5098029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Long-term datasets contain heterogeneous observations across stations and years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Individual parameters are difficult to interpret as one overall condition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Prediction alone does not explain which parameters influence the result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link between prediction, explainability, and decision support is needed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34067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2824956"/>
            <a:ext cx="5203794" cy="305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Prepare and quality-control the NIEA river water-quality dataset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Construct a CCME-WQI from selected parameters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ML and DL models for WQI prediction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 Random Forest, XGBoost, CatBoost, and TabNet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 SHAP to explain model predictions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Connect prediction and explanation to recommendation-oriented decision support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339878"/>
            <a:ext cx="1362058" cy="201162"/>
          </a:xfrm>
          <a:prstGeom prst="roundRect">
            <a:avLst>
              <a:gd name="adj" fmla="val 7905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88011" y="345841"/>
            <a:ext cx="2075873" cy="464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0942" y="66550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and Initial Data Understanding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95474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178,680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61475" y="1489968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Raw Observations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5315" y="1095474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40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125315" y="1489968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Raw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475" y="1779290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1,311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661475" y="2173784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Monitoring Stations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5315" y="1779290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34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6125315" y="2173784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Years of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5315" y="2349698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1990–2024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2516188"/>
            <a:ext cx="10868745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raw NIEA dataset contains long-term river water-quality observations collected across multiple monitoring stations in Northern Ireland. Initial inspection examined data types, temporal coverage, parameter availability, missing values, quality indicators, and measurement ranges.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" y="3584458"/>
            <a:ext cx="10868745" cy="271085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769035" y="4718103"/>
            <a:ext cx="1642671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178,680 Records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3769035" y="5417566"/>
            <a:ext cx="1642671" cy="529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Individual measurement entries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827767" y="5295683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1,311 Stations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8827767" y="5682282"/>
            <a:ext cx="1642670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Coverage 1990–2024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04613" y="3832676"/>
            <a:ext cx="1642671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NIEA Raw Dataset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1004613" y="4489542"/>
            <a:ext cx="1642671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Long-term river observations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251512" y="3824738"/>
            <a:ext cx="1642670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40 Variables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6251512" y="4163388"/>
            <a:ext cx="1642670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Water-quality parameters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87040"/>
            <a:ext cx="1895458" cy="227112"/>
          </a:xfrm>
          <a:prstGeom prst="roundRect">
            <a:avLst>
              <a:gd name="adj" fmla="val 7897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37673" y="341478"/>
            <a:ext cx="1555513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376" y="715813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Preprocessing and Quality Control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661475" y="1359098"/>
            <a:ext cx="588908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Completed preprocessing steps: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1605756"/>
            <a:ext cx="5279496" cy="1168499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Autofit/>
          </a:bodyPr>
          <a:lstStyle/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Selected relevant water-quality parameters</a:t>
            </a:r>
            <a:endParaRPr lang="en-US" sz="120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Extracted Year from monitoring dates</a:t>
            </a:r>
            <a:endParaRPr lang="en-US" sz="120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Standardised the working dataset structure</a:t>
            </a:r>
            <a:endParaRPr lang="en-US" sz="120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Examined missing values, negative values, and extreme observations</a:t>
            </a:r>
            <a:endParaRPr lang="en-US" sz="120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Investigated quality flags</a:t>
            </a:r>
            <a:endParaRPr lang="en-US" sz="120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Prepared station-year groups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870200"/>
            <a:ext cx="5279496" cy="556816"/>
          </a:xfrm>
          <a:prstGeom prst="roundRect">
            <a:avLst>
              <a:gd name="adj" fmla="val 3421"/>
            </a:avLst>
          </a:prstGeom>
          <a:solidFill>
            <a:srgbClr val="D4F7E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72" y="3003153"/>
            <a:ext cx="158746" cy="127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4215" y="2978745"/>
            <a:ext cx="4739760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Extreme values were investigated rather than automatically removed — genuine environmental events may produce unusually high measurements.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57074" y="1367631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Missing Value Rates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074" y="1662013"/>
            <a:ext cx="5279496" cy="380027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1475" y="5654179"/>
            <a:ext cx="10868745" cy="673497"/>
          </a:xfrm>
          <a:prstGeom prst="roundRect">
            <a:avLst>
              <a:gd name="adj" fmla="val 2828"/>
            </a:avLst>
          </a:prstGeom>
          <a:solidFill>
            <a:srgbClr val="F2EEEE"/>
          </a:solidFill>
          <a:ln/>
        </p:spPr>
      </p:sp>
      <p:sp>
        <p:nvSpPr>
          <p:cNvPr id="13" name="Shape 9"/>
          <p:cNvSpPr/>
          <p:nvPr/>
        </p:nvSpPr>
        <p:spPr>
          <a:xfrm>
            <a:off x="661475" y="5654179"/>
            <a:ext cx="3622882" cy="673497"/>
          </a:xfrm>
          <a:custGeom>
            <a:avLst/>
            <a:gdLst/>
            <a:ahLst/>
            <a:cxnLst/>
            <a:rect l="l" t="t" r="r" b="b"/>
            <a:pathLst>
              <a:path w="3622882" h="673497">
                <a:moveTo>
                  <a:pt x="15875" y="0"/>
                </a:moveTo>
                <a:lnTo>
                  <a:pt x="3622882" y="0"/>
                </a:lnTo>
                <a:lnTo>
                  <a:pt x="3622882" y="673497"/>
                </a:lnTo>
                <a:lnTo>
                  <a:pt x="15875" y="673497"/>
                </a:lnTo>
                <a:arcTo wR="15875" hR="15875" stAng="5400000" swAng="5400000"/>
                <a:lnTo>
                  <a:pt x="0" y="15875"/>
                </a:lnTo>
                <a:arcTo wR="15875" hR="15875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Text 10"/>
          <p:cNvSpPr/>
          <p:nvPr/>
        </p:nvSpPr>
        <p:spPr>
          <a:xfrm>
            <a:off x="788472" y="5781179"/>
            <a:ext cx="33688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Raw Dataset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88472" y="6030813"/>
            <a:ext cx="3368888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178,680 × 40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284357" y="5654179"/>
            <a:ext cx="3622882" cy="67349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3"/>
          <p:cNvSpPr/>
          <p:nvPr/>
        </p:nvSpPr>
        <p:spPr>
          <a:xfrm>
            <a:off x="4284357" y="5654179"/>
            <a:ext cx="19050" cy="673497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8" name="Text 14"/>
          <p:cNvSpPr/>
          <p:nvPr/>
        </p:nvSpPr>
        <p:spPr>
          <a:xfrm>
            <a:off x="4411354" y="5781179"/>
            <a:ext cx="33688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Preprocessing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11354" y="6030813"/>
            <a:ext cx="3368888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 cleaning &amp; selection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907239" y="5654179"/>
            <a:ext cx="3622882" cy="673497"/>
          </a:xfrm>
          <a:custGeom>
            <a:avLst/>
            <a:gdLst/>
            <a:ahLst/>
            <a:cxnLst/>
            <a:rect l="l" t="t" r="r" b="b"/>
            <a:pathLst>
              <a:path w="3622882" h="673497">
                <a:moveTo>
                  <a:pt x="0" y="0"/>
                </a:moveTo>
                <a:lnTo>
                  <a:pt x="3607007" y="0"/>
                </a:lnTo>
                <a:arcTo wR="15875" hR="15875" stAng="16200000" swAng="5400000"/>
                <a:lnTo>
                  <a:pt x="3622882" y="657622"/>
                </a:lnTo>
                <a:arcTo wR="15875" hR="15875" stAng="0" swAng="5400000"/>
                <a:lnTo>
                  <a:pt x="0" y="67349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1" name="Shape 17"/>
          <p:cNvSpPr/>
          <p:nvPr/>
        </p:nvSpPr>
        <p:spPr>
          <a:xfrm>
            <a:off x="7907239" y="5654179"/>
            <a:ext cx="19050" cy="673497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Text 18"/>
          <p:cNvSpPr/>
          <p:nvPr/>
        </p:nvSpPr>
        <p:spPr>
          <a:xfrm>
            <a:off x="8034236" y="5781179"/>
            <a:ext cx="33688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Core Dataset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034236" y="6030813"/>
            <a:ext cx="3368888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175,615 ×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566" y="461437"/>
            <a:ext cx="1726125" cy="243604"/>
          </a:xfrm>
          <a:prstGeom prst="roundRect">
            <a:avLst>
              <a:gd name="adj" fmla="val 7905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642120" y="491894"/>
            <a:ext cx="1596304" cy="48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2566" y="78303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Station-Year Aggregation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9746175" cy="101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94" y="1522706"/>
            <a:ext cx="10868745" cy="21113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38424" y="1929382"/>
            <a:ext cx="1905200" cy="58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Raw Observations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314431" y="2674213"/>
            <a:ext cx="1905200" cy="176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178,680 total records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96233" y="1877829"/>
            <a:ext cx="1905200" cy="588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Station-Year Groups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872240" y="2579294"/>
            <a:ext cx="1905200" cy="35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15,502 aggregated groups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195516" y="1715070"/>
            <a:ext cx="1905200" cy="883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Group by StationCode &amp; Year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195516" y="2682088"/>
            <a:ext cx="1905200" cy="353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Create station-year units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20427" y="358498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Each station-year group serves as the unit of annual water-quality assessment for WQI construction.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2566" y="3939142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578712" y="4030621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15,502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7021" y="4206536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Station-year groups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977780" y="3953421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6168074" y="3973583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11.33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68074" y="4179514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Mean observations per group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84257" y="4856374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611434" y="4898549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8712" y="5065808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Median observations (typical)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007599" y="4837669"/>
            <a:ext cx="5410759" cy="478234"/>
          </a:xfrm>
          <a:prstGeom prst="roundRect">
            <a:avLst>
              <a:gd name="adj" fmla="val 2964"/>
            </a:avLst>
          </a:prstGeom>
          <a:solidFill>
            <a:srgbClr val="F2EEEE"/>
          </a:solidFill>
          <a:ln/>
        </p:spPr>
      </p:sp>
      <p:sp>
        <p:nvSpPr>
          <p:cNvPr id="24" name="Text 21"/>
          <p:cNvSpPr/>
          <p:nvPr/>
        </p:nvSpPr>
        <p:spPr>
          <a:xfrm>
            <a:off x="6196507" y="4883324"/>
            <a:ext cx="522185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1–28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66688" y="5076617"/>
            <a:ext cx="522185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Range of observations per group</a:t>
            </a:r>
            <a:endParaRPr lang="en-US" sz="7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82C51F-BFA3-136C-192A-C4A8373CC722}"/>
              </a:ext>
            </a:extLst>
          </p:cNvPr>
          <p:cNvSpPr txBox="1"/>
          <p:nvPr/>
        </p:nvSpPr>
        <p:spPr>
          <a:xfrm>
            <a:off x="484256" y="1178904"/>
            <a:ext cx="10298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raw dataset contains repeated observations from the same station across different dates. To create a consistent annual assessment unit, observations were grouped by </a:t>
            </a:r>
            <a:r>
              <a:rPr lang="en-US" sz="1200" b="1" dirty="0" err="1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StationCode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Year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75" y="409569"/>
            <a:ext cx="2361125" cy="427548"/>
          </a:xfrm>
          <a:prstGeom prst="roundRect">
            <a:avLst>
              <a:gd name="adj" fmla="val 7905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18126" y="548084"/>
            <a:ext cx="2202873" cy="645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85275" y="93441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CCME-WQI Construction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85275" y="1891952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Five parameters were selected based on availability in the processed NIEA dataset and compatibility with the CCME-WQI formulation: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5274" y="2649537"/>
            <a:ext cx="5319083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BOD (Biochemical Oxygen Demand)</a:t>
            </a:r>
            <a:endParaRPr lang="en-US" sz="15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Ammonia-N, Nitrite-N, Nitrate-N</a:t>
            </a:r>
            <a:endParaRPr lang="en-US" sz="15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73" y="3429000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CCME-WQI combines three components — Scope (F1), Frequency (F2), and Amplitude (F3) — into a single score from 0 to 100.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85275" y="4600411"/>
            <a:ext cx="5319083" cy="792856"/>
          </a:xfrm>
          <a:prstGeom prst="roundRect">
            <a:avLst>
              <a:gd name="adj" fmla="val 5773"/>
            </a:avLst>
          </a:prstGeom>
          <a:solidFill>
            <a:srgbClr val="D4F7E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29" y="4186039"/>
            <a:ext cx="118067" cy="94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5929" y="4852641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Formula:</a:t>
            </a:r>
            <a:r>
              <a:rPr lang="en-US" sz="15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CCME-WQI = 100 − √(F1² + F2² + F3²) / 1.732</a:t>
            </a:r>
            <a:endParaRPr lang="en-US" sz="15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707" y="249039"/>
            <a:ext cx="1053025" cy="270768"/>
          </a:xfrm>
          <a:prstGeom prst="roundRect">
            <a:avLst>
              <a:gd name="adj" fmla="val 7905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661475" y="264318"/>
            <a:ext cx="94225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50707" y="64362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Initial WQI Results and Validation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95474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12,497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653008" y="1489968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Final WQI Records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5315" y="1095474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49.43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125315" y="1489968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Mean WQI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1475" y="1779290"/>
            <a:ext cx="5404806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46.66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661475" y="2173784"/>
            <a:ext cx="540480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Median WQI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5315" y="1779290"/>
            <a:ext cx="5404905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6125315" y="2173784"/>
            <a:ext cx="540490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Invalid Values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5315" y="2349698"/>
            <a:ext cx="5404905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None outside 0–100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9270"/>
            <a:ext cx="5319083" cy="38287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11137" y="2729805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WQI values remained within the valid 0–100 range. The majority of station-year records were classified as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Poor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(5,691) or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Marginal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(5,044), while only 19 records were classified as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Excellent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95847" y="3429000"/>
            <a:ext cx="5319083" cy="643500"/>
          </a:xfrm>
          <a:prstGeom prst="roundRect">
            <a:avLst>
              <a:gd name="adj" fmla="val 5773"/>
            </a:avLst>
          </a:prstGeom>
          <a:solidFill>
            <a:srgbClr val="D4F7E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41" y="2909391"/>
            <a:ext cx="118067" cy="94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50664" y="4595729"/>
            <a:ext cx="7570034" cy="1505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A39A9E-2B21-5CD9-2CB7-29FE5600F615}"/>
              </a:ext>
            </a:extLst>
          </p:cNvPr>
          <p:cNvSpPr txBox="1"/>
          <p:nvPr/>
        </p:nvSpPr>
        <p:spPr>
          <a:xfrm>
            <a:off x="6217487" y="3508077"/>
            <a:ext cx="4366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categories reflect calculated WQI values — not ML predictions. Predictive modelling is the next phase.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383"/>
            <a:ext cx="1362058" cy="296069"/>
          </a:xfrm>
          <a:prstGeom prst="roundRect">
            <a:avLst>
              <a:gd name="adj" fmla="val 789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57119" y="583208"/>
            <a:ext cx="1445779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83145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Overall Framework and Current Progress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6582" y="1531640"/>
            <a:ext cx="5469594" cy="4790877"/>
          </a:xfrm>
          <a:prstGeom prst="roundRect">
            <a:avLst>
              <a:gd name="adj" fmla="val 499"/>
            </a:avLst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706023" y="1666180"/>
            <a:ext cx="515071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✅</a:t>
            </a:r>
            <a:r>
              <a:rPr lang="en-US" sz="1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Completed — Review 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6023" y="206662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6023" y="2318544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9" name="Text 7"/>
          <p:cNvSpPr/>
          <p:nvPr/>
        </p:nvSpPr>
        <p:spPr>
          <a:xfrm>
            <a:off x="706023" y="2436316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NIEA Raw Dataset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348648" y="206662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48648" y="2318544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2" name="Text 10"/>
          <p:cNvSpPr/>
          <p:nvPr/>
        </p:nvSpPr>
        <p:spPr>
          <a:xfrm>
            <a:off x="3348648" y="2436316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 Inspection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6023" y="2939554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6023" y="3191470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706023" y="3309243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Preprocessing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348648" y="2939554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48648" y="3191470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3348648" y="3309243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Quality Control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6023" y="3812480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6023" y="4064397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1" name="Text 19"/>
          <p:cNvSpPr/>
          <p:nvPr/>
        </p:nvSpPr>
        <p:spPr>
          <a:xfrm>
            <a:off x="706023" y="4182170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Station-Year Aggregation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348648" y="3812480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48648" y="4064397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4" name="Text 22"/>
          <p:cNvSpPr/>
          <p:nvPr/>
        </p:nvSpPr>
        <p:spPr>
          <a:xfrm>
            <a:off x="3348648" y="4182170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CCME-WQI Construction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6023" y="468540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07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6023" y="4937323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7" name="Text 25"/>
          <p:cNvSpPr/>
          <p:nvPr/>
        </p:nvSpPr>
        <p:spPr>
          <a:xfrm>
            <a:off x="706023" y="5055096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WQI Validation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3348648" y="468540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08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48648" y="4937323"/>
            <a:ext cx="2508088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30" name="Text 28"/>
          <p:cNvSpPr/>
          <p:nvPr/>
        </p:nvSpPr>
        <p:spPr>
          <a:xfrm>
            <a:off x="3348648" y="5055096"/>
            <a:ext cx="2508088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Final WQI Dataset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296760" y="1666180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Arial" panose="020B0604020202020204" pitchFamily="34" charset="0"/>
                <a:ea typeface="Twemoji Mozilla" pitchFamily="34" charset="-122"/>
                <a:cs typeface="Arial" panose="020B0604020202020204" pitchFamily="34" charset="0"/>
              </a:rPr>
              <a:t>⏭</a:t>
            </a:r>
            <a:r>
              <a:rPr lang="en-US" sz="1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Next Phase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296760" y="206662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96760" y="2318544"/>
            <a:ext cx="2552636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34" name="Text 32"/>
          <p:cNvSpPr/>
          <p:nvPr/>
        </p:nvSpPr>
        <p:spPr>
          <a:xfrm>
            <a:off x="6296760" y="2436316"/>
            <a:ext cx="25526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ML Dataset Preparation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983934" y="206662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983934" y="2318544"/>
            <a:ext cx="2552636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37" name="Text 35"/>
          <p:cNvSpPr/>
          <p:nvPr/>
        </p:nvSpPr>
        <p:spPr>
          <a:xfrm>
            <a:off x="8983934" y="2436316"/>
            <a:ext cx="255263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Random Forest · XGBoost · CatBoost · TabNet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296760" y="3188692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96760" y="3440609"/>
            <a:ext cx="2552636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40" name="Text 38"/>
          <p:cNvSpPr/>
          <p:nvPr/>
        </p:nvSpPr>
        <p:spPr>
          <a:xfrm>
            <a:off x="6296760" y="3558381"/>
            <a:ext cx="255263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Model Evaluation (MAE, MSE, RMSE, R²)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8983934" y="3188692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983934" y="3440609"/>
            <a:ext cx="2552636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43" name="Text 41"/>
          <p:cNvSpPr/>
          <p:nvPr/>
        </p:nvSpPr>
        <p:spPr>
          <a:xfrm>
            <a:off x="8983934" y="3558381"/>
            <a:ext cx="25526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SHAP Explainability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6296760" y="431075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296760" y="4562673"/>
            <a:ext cx="2552636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46" name="Text 44"/>
          <p:cNvSpPr/>
          <p:nvPr/>
        </p:nvSpPr>
        <p:spPr>
          <a:xfrm>
            <a:off x="6296760" y="4680446"/>
            <a:ext cx="255263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Water-Quality Interpretation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8983934" y="431075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983934" y="4562673"/>
            <a:ext cx="2552636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49" name="Text 47"/>
          <p:cNvSpPr/>
          <p:nvPr/>
        </p:nvSpPr>
        <p:spPr>
          <a:xfrm>
            <a:off x="8983934" y="4680446"/>
            <a:ext cx="25526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Recommendation Layer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6296760" y="5432822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Abadi" panose="020F0502020204030204" pitchFamily="34" charset="0"/>
                <a:ea typeface="DM Sans Light" pitchFamily="34" charset="-122"/>
                <a:cs typeface="DM Sans Light" pitchFamily="34" charset="-120"/>
              </a:rPr>
              <a:t>07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296760" y="5684738"/>
            <a:ext cx="5239810" cy="1905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2" name="Text 50"/>
          <p:cNvSpPr/>
          <p:nvPr/>
        </p:nvSpPr>
        <p:spPr>
          <a:xfrm>
            <a:off x="6296760" y="5802511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Decision Support System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4759"/>
            <a:ext cx="1302792" cy="362744"/>
          </a:xfrm>
          <a:prstGeom prst="roundRect">
            <a:avLst>
              <a:gd name="adj" fmla="val 7899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71413"/>
            <a:ext cx="14012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9775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 and Next Phase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406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Completed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524919"/>
            <a:ext cx="5203794" cy="238125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Long-term NIEA dataset successfully inspected and processed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175,615 observations prepared; 15,502 station-year groups identified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CCME-WQI successfully constructed and validated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12,497 valid station-year WQI records generated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Dataset and target are ready for predictive modelling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04063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Next Phase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524919"/>
            <a:ext cx="5203794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Prepare leakage-free ML dataset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Train and compare Random Forest, XGBoost, CatBoost, and TabNet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Evaluate using MAE, MSE, RMSE, and R²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Apply SHAP for explainability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 recommendation-oriented decision support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5184874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D4F7E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52566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5723" y="5421114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Status:</a:t>
            </a: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Data processing and WQI construction completed. Predictive modelling and explainability are the next phase.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811</Words>
  <Application>Microsoft Office PowerPoint</Application>
  <PresentationFormat>Widescreen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 SemiBold</vt:lpstr>
      <vt:lpstr>Inter Bold</vt:lpstr>
      <vt:lpstr>Arial</vt:lpstr>
      <vt:lpstr>Abadi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 Samad</cp:lastModifiedBy>
  <cp:revision>4</cp:revision>
  <dcterms:created xsi:type="dcterms:W3CDTF">2026-08-20T10:27:35Z</dcterms:created>
  <dcterms:modified xsi:type="dcterms:W3CDTF">2026-08-20T12:25:51Z</dcterms:modified>
</cp:coreProperties>
</file>